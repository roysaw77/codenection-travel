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9"/>
  </p:sldMasterIdLst>
  <p:sldIdLst>
    <p:sldId id="257" r:id="rId1"/>
    <p:sldId id="258" r:id="rId2"/>
    <p:sldId id="259" r:id="rId3"/>
    <p:sldId id="260" r:id="rId4"/>
    <p:sldId id="261" r:id="rId5"/>
    <p:sldId id="262" r:id="rId6"/>
    <p:sldId id="263" r:id="rId7"/>
    <p:sldId id="264" r:id="rId8"/>
  </p:sldIdLst>
  <p:sldSz cx="12192000" cy="6858000"/>
  <p:notesSz cx="6858000" cy="9144000"/>
</p:presentation>
</file>

<file path=ppt/_rels/presentation.xml.rel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Master" Target="slideMasters/slideMaster1.xml"/></Relationships>
</file>

<file path=ppt/notesSlides/_rels/notesSlide1.xml.rels><Relationships xmlns="http://schemas.openxmlformats.org/package/2006/relationships"><Relationship Id="rId1" Type="http://schemas.openxmlformats.org/officeDocument/2006/relationships/slide" Target="../slides/slide1.xml"/></Relationships>
</file>

<file path=ppt/notesSlides/_rels/notesSlide2.xml.rels><Relationships xmlns="http://schemas.openxmlformats.org/package/2006/relationships"><Relationship Id="rId1"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slide" Target="../slides/slide7.xml"/></Relationships>
</file>

<file path=ppt/notesSlides/_rels/notesSlide8.xml.rels><Relationships xmlns="http://schemas.openxmlformats.org/package/2006/relationships"><Relationship Id="rId1"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20 seconds.</a:t>
            </a:r>
            <a:endParaRPr lang="en-US"/>
          </a:p>
          <a:p>
            <a:pPr/>
            <a:r>
              <a:rPr lang="en-US" sz="1200" b="0">
                <a:solidFill>
                  <a:srgbClr val="173F3A"/>
                </a:solidFill>
                <a:latin typeface="Arial"/>
              </a:rPr>
              <a:t>Senior Travel Companion helps adult children support older parents when they cannot travel together. We focus on parents aged sixty and above who join organised tours. The child helps choose the trip, the parent uses a simple interface, and the guide provides local support. This is our proposed product, illustrated through a UI prototype.</a:t>
            </a:r>
            <a:endParaRPr lang="en-US"/>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30 seconds.</a:t>
            </a:r>
            <a:endParaRPr lang="en-US"/>
          </a:p>
          <a:p>
            <a:pPr/>
            <a:r>
              <a:rPr lang="en-US" sz="1200" b="0">
                <a:solidFill>
                  <a:srgbClr val="173F3A"/>
                </a:solidFill>
                <a:latin typeface="Arial"/>
              </a:rPr>
              <a:t>Imagine a daughter arranging a holiday for her mother, who prefers short walks. A tour listing may look suitable, but she still needs to understand walking demands and the evidence behind the operator. During the trip, a missed reply gives little context. The parent also needs a simple way to ask for help. These are hypotheses we will validate through family and guide interviews.</a:t>
            </a:r>
            <a:endParaRPr lang="en-US"/>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40 seconds.</a:t>
            </a:r>
            <a:endParaRPr lang="en-US"/>
          </a:p>
          <a:p>
            <a:pPr/>
            <a:r>
              <a:rPr lang="en-US" sz="1200" b="0">
                <a:solidFill>
                  <a:srgbClr val="173F3A"/>
                </a:solidFill>
                <a:latin typeface="Arial"/>
              </a:rPr>
              <a:t>The child enters a parent profile with walking tolerance, rest needs, language and budget. The proposed matcher compares it with tour, guide, itinerary and safety information. Explicit rules calculate suitability, while the AI advisor explains the fit and missing information. For example, a forty-minute walk should be flagged for a parent who prefers twenty minutes. The Trust Profile shows supporting evidence and review status. Our displayed scores are fixed demo values, and neither suitability nor a trust profile guarantees safety.</a:t>
            </a:r>
            <a:endParaRPr lang="en-US"/>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35 seconds.</a:t>
            </a:r>
            <a:endParaRPr lang="en-US"/>
          </a:p>
          <a:p>
            <a:pPr/>
            <a:r>
              <a:rPr lang="en-US" sz="1200" b="0">
                <a:solidFill>
                  <a:srgbClr val="173F3A"/>
                </a:solidFill>
                <a:latin typeface="Arial"/>
              </a:rPr>
              <a:t>Parents should not need to learn a complex dashboard. Senior Simple Mode brings the next stop and meeting details to the main screen. The largest action lets them say I am okay. Calling the guide and requesting help remain easy to find. We use short labels and prominent controls, with detailed planning in the child view. We still need usability testing with older adults, including text scaling and whether users understand the help actions.</a:t>
            </a:r>
            <a:endParaRPr lang="en-US"/>
          </a:p>
          <a:p>
            <a:pPr/>
            <a:r>
              <a:rPr lang="en-US" sz="1200" b="0">
                <a:solidFill>
                  <a:srgbClr val="173F3A"/>
                </a:solidFill>
                <a:latin typeface="Arial"/>
              </a:rPr>
              <a:t>Sources: https://www.w3.org/WAI/older-users/ and https://www.w3.org/WAI/WCAG22/Understanding/target-size-enhanced.html</a:t>
            </a:r>
            <a:endParaRPr lang="en-US"/>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35 seconds.</a:t>
            </a:r>
            <a:endParaRPr lang="en-US"/>
          </a:p>
          <a:p>
            <a:pPr/>
            <a:r>
              <a:rPr lang="en-US" sz="1200" b="0">
                <a:solidFill>
                  <a:srgbClr val="173F3A"/>
                </a:solidFill>
                <a:latin typeface="Arial"/>
              </a:rPr>
              <a:t>The child dashboard combines the itinerary with the latest check-in and a future trip map. The map concept shows the parent’s consented shared location, the next stop and the update time. It uses an illustrative map in this prototype and has no live tracking. If a parent requests rest or sends SOS, the proposed alert workflow contacts the authorised guide and child. The guide can respond locally while the child supports remotely. The app must show stale data and separate acknowledgements. These screenshots simulate the workflow. They do not send notifications or provide emergency response.</a:t>
            </a:r>
            <a:endParaRPr lang="en-US"/>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30 seconds.</a:t>
            </a:r>
            <a:endParaRPr lang="en-US"/>
          </a:p>
          <a:p>
            <a:pPr/>
            <a:r>
              <a:rPr lang="en-US" sz="1200" b="0">
                <a:solidFill>
                  <a:srgbClr val="173F3A"/>
                </a:solidFill>
                <a:latin typeface="Arial"/>
              </a:rPr>
              <a:t>Existing products already solve useful parts of this problem. TourRadar offers senior tours and physical ratings. TripIt organises and shares itineraries. Life360 supports location sharing and SOS. Our proposed difference is joining parent-specific tour selection with support during travel, connecting the parent, child and guide. We are not claiming these individual features are unique. We need to validate whether this connected workflow matters enough for families to adopt and pay for.</a:t>
            </a:r>
            <a:endParaRPr lang="en-US"/>
          </a:p>
          <a:p>
            <a:pPr/>
            <a:r>
              <a:rPr lang="en-US" sz="1200" b="0">
                <a:solidFill>
                  <a:srgbClr val="173F3A"/>
                </a:solidFill>
                <a:latin typeface="Arial"/>
              </a:rPr>
              <a:t>Sources: https://www.tourradar.com/pa/seniors ; https://help.tourradar.com/en/operators/group-type-guide-type-physical-ratings ; https://help.tripit.com/en/support/solutions/articles/103000063304-getting-started ; https://www.life360.com/location-sharing ; https://support.life360.com/hc/en-us/articles/23053474049687-SOS-Alerts</a:t>
            </a:r>
            <a:endParaRPr lang="en-US"/>
          </a:p>
          <a:p>
            <a:pPr/>
            <a:r>
              <a:rPr lang="en-US" sz="1200" b="0">
                <a:solidFill>
                  <a:srgbClr val="173F3A"/>
                </a:solidFill>
                <a:latin typeface="Arial"/>
              </a:rPr>
              <a:t>Logo sources: https://www.tourradar.com/press ; https://www.tripit.com/themes/custom/tripit_theme/images/logo-tripit.svg ; https://commons.wikimedia.org/wiki/File:Life360_Horizontal.svg</a:t>
            </a:r>
            <a:endParaRPr lang="en-US"/>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30 seconds.</a:t>
            </a:r>
            <a:endParaRPr lang="en-US"/>
          </a:p>
          <a:p>
            <a:pPr/>
            <a:r>
              <a:rPr lang="en-US" sz="1200" b="0">
                <a:solidFill>
                  <a:srgbClr val="173F3A"/>
                </a:solidFill>
                <a:latin typeface="Arial"/>
              </a:rPr>
              <a:t>Our planned frontend is Flutter, backed by FastAPI and Supabase for profiles, trips and permissions. LangChain sends relevant evidence to NVIDIA NIM to explain matches. Backend rules control scoring and alerts. For routing, Geoapify is a lower-cost MVP candidate, subject to local coverage tests. FCM and a persistent worker handle notifications and overdue events. The existing demo uses HTML, CSS and JavaScript. These integrations are planned, and we will confirm provider limits before implementation.</a:t>
            </a:r>
            <a:endParaRPr lang="en-US"/>
          </a:p>
          <a:p>
            <a:pPr/>
            <a:r>
              <a:rPr lang="en-US" sz="1200" b="0">
                <a:solidFill>
                  <a:srgbClr val="173F3A"/>
                </a:solidFill>
                <a:latin typeface="Arial"/>
              </a:rPr>
              <a:t>Sources: https://docs.flutter.dev/platform-integration/web ; https://supabase.com/docs/guides/database/overview ; https://docs.langchain.com/oss/python/langchain/structured-output ; https://docs.api.nvidia.com/nim/re/reference/llm-apis ; https://www.geoapify.com/pricing/ ; https://firebase.google.com/docs/cloud-messaging</a:t>
            </a:r>
            <a:endParaRPr lang="en-US"/>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20 seconds.</a:t>
            </a:r>
            <a:endParaRPr lang="en-US"/>
          </a:p>
          <a:p>
            <a:pPr/>
            <a:r>
              <a:rPr lang="en-US" sz="1200" b="0">
                <a:solidFill>
                  <a:srgbClr val="173F3A"/>
                </a:solidFill>
                <a:latin typeface="Arial"/>
              </a:rPr>
              <a:t>Our next milestone is one working trip across two devices: a child creates a profile, reviews a match and receives a parent check-in. Then we test guide acknowledgement and usability with older adults. Today we have the interface concept. Our goal is to help families choose a suitable tour and stay connected when they cannot travel together.</a:t>
            </a:r>
            <a:endParaRPr lang="en-US"/>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Relationships xmlns="http://schemas.openxmlformats.org/package/2006/relationships"><Relationship Id="rId1" Type="http://schemas.openxmlformats.org/officeDocument/2006/relationships/slideLayout" Target="../slideLayouts/slideLayout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sldMaster>
</file>

<file path=ppt/slides/_rels/slide1.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11" Type="http://schemas.openxmlformats.org/officeDocument/2006/relationships/image" Target="../media/image3_11.png"/><Relationship Id="rId12" Type="http://schemas.openxmlformats.org/officeDocument/2006/relationships/image" Target="../media/image3_12.png"/></Relationships>
</file>

<file path=ppt/slides/_rels/slide4.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5" Type="http://schemas.openxmlformats.org/officeDocument/2006/relationships/image" Target="../media/image4_5.png"/></Relationships>
</file>

<file path=ppt/slides/_rels/slide5.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10" Type="http://schemas.openxmlformats.org/officeDocument/2006/relationships/image" Target="../media/image5_10.png"/><Relationship Id="rId11" Type="http://schemas.openxmlformats.org/officeDocument/2006/relationships/image" Target="../media/image5_11.png"/></Relationships>
</file>

<file path=ppt/slides/_rels/slide6.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7" Type="http://schemas.openxmlformats.org/officeDocument/2006/relationships/image" Target="../media/image6_7.png"/><Relationship Id="rId10" Type="http://schemas.openxmlformats.org/officeDocument/2006/relationships/image" Target="../media/image6_10.png"/><Relationship Id="rId13" Type="http://schemas.openxmlformats.org/officeDocument/2006/relationships/image" Target="../media/image6_13.png"/></Relationships>
</file>

<file path=ppt/slides/_rels/slide7.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3F3A"/>
        </a:solidFill>
        <a:effectLst/>
      </p:bgPr>
    </p:bg>
    <p:spTree>
      <p:nvGrpSpPr>
        <p:cNvPr id="1" name=""/>
        <p:cNvGrpSpPr/>
        <p:nvPr/>
      </p:nvGrpSpPr>
      <p:grpSpPr>
        <a:xfrm>
          <a:off x="0" y="0"/>
          <a:ext cx="0" cy="0"/>
          <a:chOff x="0" y="0"/>
          <a:chExt cx="0" cy="0"/>
        </a:xfrm>
      </p:grpSpPr>
      <p:sp>
        <p:nvSpPr>
          <p:cNvPr id="3" name="Text 3"/>
          <p:cNvSpPr txBox="1"/>
          <p:nvPr/>
        </p:nvSpPr>
        <p:spPr>
          <a:xfrm>
            <a:off x="11049000" y="6353175"/>
            <a:ext cx="523875" cy="266700"/>
          </a:xfrm>
          <a:prstGeom prst="rect">
            <a:avLst/>
          </a:prstGeom>
          <a:noFill/>
        </p:spPr>
        <p:txBody>
          <a:bodyPr wrap="square" lIns="0" rIns="0" tIns="0" bIns="0"/>
          <a:lstStyle/>
          <a:p>
            <a:pPr/>
            <a:r>
              <a:rPr lang="en-US" sz="1275" b="0">
                <a:solidFill>
                  <a:srgbClr val="BDCCC6"/>
                </a:solidFill>
                <a:latin typeface="Arial"/>
              </a:rPr>
              <a:t>01</a:t>
            </a:r>
            <a:endParaRPr lang="en-US"/>
          </a:p>
        </p:txBody>
      </p:sp>
      <p:sp>
        <p:nvSpPr>
          <p:cNvPr id="4" name="Text 4"/>
          <p:cNvSpPr txBox="1"/>
          <p:nvPr/>
        </p:nvSpPr>
        <p:spPr>
          <a:xfrm>
            <a:off x="685800" y="1666875"/>
            <a:ext cx="10287000" cy="1809750"/>
          </a:xfrm>
          <a:prstGeom prst="rect">
            <a:avLst/>
          </a:prstGeom>
          <a:noFill/>
        </p:spPr>
        <p:txBody>
          <a:bodyPr wrap="square" lIns="0" rIns="0" tIns="0" bIns="0"/>
          <a:lstStyle/>
          <a:p>
            <a:pPr/>
            <a:r>
              <a:rPr lang="en-US" sz="5700" b="1">
                <a:solidFill>
                  <a:srgbClr val="FFFFFF"/>
                </a:solidFill>
                <a:latin typeface="Arial"/>
              </a:rPr>
              <a:t>Senior Travel</a:t>
            </a:r>
            <a:endParaRPr lang="en-US"/>
          </a:p>
          <a:p>
            <a:pPr/>
            <a:r>
              <a:rPr lang="en-US" sz="5700" b="1">
                <a:solidFill>
                  <a:srgbClr val="FFFFFF"/>
                </a:solidFill>
                <a:latin typeface="Arial"/>
              </a:rPr>
              <a:t>Companion</a:t>
            </a:r>
            <a:endParaRPr lang="en-US"/>
          </a:p>
        </p:txBody>
      </p:sp>
      <p:sp>
        <p:nvSpPr>
          <p:cNvPr id="5" name="Text 5"/>
          <p:cNvSpPr txBox="1"/>
          <p:nvPr/>
        </p:nvSpPr>
        <p:spPr>
          <a:xfrm>
            <a:off x="742950" y="4000500"/>
            <a:ext cx="9048750" cy="1047750"/>
          </a:xfrm>
          <a:prstGeom prst="rect">
            <a:avLst/>
          </a:prstGeom>
          <a:noFill/>
        </p:spPr>
        <p:txBody>
          <a:bodyPr wrap="square" lIns="0" rIns="0" tIns="0" bIns="0"/>
          <a:lstStyle/>
          <a:p>
            <a:pPr/>
            <a:r>
              <a:rPr lang="en-US" sz="2550" b="0">
                <a:solidFill>
                  <a:srgbClr val="D4E4DD"/>
                </a:solidFill>
                <a:latin typeface="Arial"/>
              </a:rPr>
              <a:t>Helping families support older parents</a:t>
            </a:r>
            <a:endParaRPr lang="en-US"/>
          </a:p>
          <a:p>
            <a:pPr/>
            <a:r>
              <a:rPr lang="en-US" sz="2550" b="0">
                <a:solidFill>
                  <a:srgbClr val="D4E4DD"/>
                </a:solidFill>
                <a:latin typeface="Arial"/>
              </a:rPr>
              <a:t>before and during a tour</a:t>
            </a:r>
            <a:endParaRPr lang="en-US"/>
          </a:p>
        </p:txBody>
      </p:sp>
      <p:sp>
        <p:nvSpPr>
          <p:cNvPr id="6" name="Text 6"/>
          <p:cNvSpPr txBox="1"/>
          <p:nvPr/>
        </p:nvSpPr>
        <p:spPr>
          <a:xfrm>
            <a:off x="742950" y="5810250"/>
            <a:ext cx="9048750" cy="381000"/>
          </a:xfrm>
          <a:prstGeom prst="rect">
            <a:avLst/>
          </a:prstGeom>
          <a:noFill/>
        </p:spPr>
        <p:txBody>
          <a:bodyPr wrap="square" lIns="0" rIns="0" tIns="0" bIns="0"/>
          <a:lstStyle/>
          <a:p>
            <a:pPr/>
            <a:r>
              <a:rPr lang="en-US" sz="1650" b="0">
                <a:solidFill>
                  <a:srgbClr val="BBD0C6"/>
                </a:solidFill>
                <a:latin typeface="Arial"/>
              </a:rPr>
              <a:t>Hackathon concept and UI prototype</a:t>
            </a:r>
            <a:endParaRPr lang="en-US"/>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The family support gap</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02</a:t>
            </a:r>
            <a:endParaRPr lang="en-US"/>
          </a:p>
        </p:txBody>
      </p:sp>
      <p:sp>
        <p:nvSpPr>
          <p:cNvPr id="5" name="Text 5"/>
          <p:cNvSpPr txBox="1"/>
          <p:nvPr/>
        </p:nvSpPr>
        <p:spPr>
          <a:xfrm>
            <a:off x="666750" y="1533525"/>
            <a:ext cx="10477500" cy="1190625"/>
          </a:xfrm>
          <a:prstGeom prst="rect">
            <a:avLst/>
          </a:prstGeom>
          <a:noFill/>
        </p:spPr>
        <p:txBody>
          <a:bodyPr wrap="square" lIns="0" rIns="0" tIns="0" bIns="0"/>
          <a:lstStyle/>
          <a:p>
            <a:pPr/>
            <a:r>
              <a:rPr lang="en-US" sz="3000" b="1">
                <a:solidFill>
                  <a:srgbClr val="173F3A"/>
                </a:solidFill>
                <a:latin typeface="Arial"/>
              </a:rPr>
              <a:t>“Can Mum manage the trip,</a:t>
            </a:r>
            <a:endParaRPr lang="en-US"/>
          </a:p>
          <a:p>
            <a:pPr/>
            <a:r>
              <a:rPr lang="en-US" sz="3000" b="1">
                <a:solidFill>
                  <a:srgbClr val="173F3A"/>
                </a:solidFill>
                <a:latin typeface="Arial"/>
              </a:rPr>
              <a:t>and who can help if plans change?”</a:t>
            </a:r>
            <a:endParaRPr lang="en-US"/>
          </a:p>
        </p:txBody>
      </p:sp>
      <p:sp>
        <p:nvSpPr>
          <p:cNvPr id="6" name="Text 6"/>
          <p:cNvSpPr txBox="1"/>
          <p:nvPr/>
        </p:nvSpPr>
        <p:spPr>
          <a:xfrm>
            <a:off x="685800" y="3333750"/>
            <a:ext cx="4857750" cy="400050"/>
          </a:xfrm>
          <a:prstGeom prst="rect">
            <a:avLst/>
          </a:prstGeom>
          <a:noFill/>
        </p:spPr>
        <p:txBody>
          <a:bodyPr wrap="square" lIns="0" rIns="0" tIns="0" bIns="0"/>
          <a:lstStyle/>
          <a:p>
            <a:pPr/>
            <a:r>
              <a:rPr lang="en-US" sz="2175" b="1">
                <a:solidFill>
                  <a:srgbClr val="176658"/>
                </a:solidFill>
                <a:latin typeface="Arial"/>
              </a:rPr>
              <a:t>Before the trip</a:t>
            </a:r>
            <a:endParaRPr lang="en-US"/>
          </a:p>
        </p:txBody>
      </p:sp>
      <p:sp>
        <p:nvSpPr>
          <p:cNvPr id="7" name="Text 7"/>
          <p:cNvSpPr txBox="1"/>
          <p:nvPr/>
        </p:nvSpPr>
        <p:spPr>
          <a:xfrm>
            <a:off x="685800" y="3800475"/>
            <a:ext cx="4857750" cy="857250"/>
          </a:xfrm>
          <a:prstGeom prst="rect">
            <a:avLst/>
          </a:prstGeom>
          <a:noFill/>
        </p:spPr>
        <p:txBody>
          <a:bodyPr wrap="square" lIns="0" rIns="0" tIns="0" bIns="0"/>
          <a:lstStyle/>
          <a:p>
            <a:pPr/>
            <a:r>
              <a:rPr lang="en-US" sz="1875" b="0">
                <a:solidFill>
                  <a:srgbClr val="173F3A"/>
                </a:solidFill>
                <a:latin typeface="Arial"/>
              </a:rPr>
              <a:t>Suitability and important tour details</a:t>
            </a:r>
            <a:endParaRPr lang="en-US"/>
          </a:p>
          <a:p>
            <a:pPr/>
            <a:r>
              <a:rPr lang="en-US" sz="1875" b="0">
                <a:solidFill>
                  <a:srgbClr val="173F3A"/>
                </a:solidFill>
                <a:latin typeface="Arial"/>
              </a:rPr>
              <a:t>can be difficult to assess.</a:t>
            </a:r>
            <a:endParaRPr lang="en-US"/>
          </a:p>
        </p:txBody>
      </p:sp>
      <p:sp>
        <p:nvSpPr>
          <p:cNvPr id="8" name="Text 8"/>
          <p:cNvSpPr txBox="1"/>
          <p:nvPr/>
        </p:nvSpPr>
        <p:spPr>
          <a:xfrm>
            <a:off x="6534150" y="3333750"/>
            <a:ext cx="4857750" cy="400050"/>
          </a:xfrm>
          <a:prstGeom prst="rect">
            <a:avLst/>
          </a:prstGeom>
          <a:noFill/>
        </p:spPr>
        <p:txBody>
          <a:bodyPr wrap="square" lIns="0" rIns="0" tIns="0" bIns="0"/>
          <a:lstStyle/>
          <a:p>
            <a:pPr/>
            <a:r>
              <a:rPr lang="en-US" sz="2175" b="1">
                <a:solidFill>
                  <a:srgbClr val="176658"/>
                </a:solidFill>
                <a:latin typeface="Arial"/>
              </a:rPr>
              <a:t>During the trip</a:t>
            </a:r>
            <a:endParaRPr lang="en-US"/>
          </a:p>
        </p:txBody>
      </p:sp>
      <p:sp>
        <p:nvSpPr>
          <p:cNvPr id="9" name="Text 9"/>
          <p:cNvSpPr txBox="1"/>
          <p:nvPr/>
        </p:nvSpPr>
        <p:spPr>
          <a:xfrm>
            <a:off x="6534150" y="3800475"/>
            <a:ext cx="4857750" cy="857250"/>
          </a:xfrm>
          <a:prstGeom prst="rect">
            <a:avLst/>
          </a:prstGeom>
          <a:noFill/>
        </p:spPr>
        <p:txBody>
          <a:bodyPr wrap="square" lIns="0" rIns="0" tIns="0" bIns="0"/>
          <a:lstStyle/>
          <a:p>
            <a:pPr/>
            <a:r>
              <a:rPr lang="en-US" sz="1875" b="0">
                <a:solidFill>
                  <a:srgbClr val="173F3A"/>
                </a:solidFill>
                <a:latin typeface="Arial"/>
              </a:rPr>
              <a:t>Children need context. Parents need</a:t>
            </a:r>
            <a:endParaRPr lang="en-US"/>
          </a:p>
          <a:p>
            <a:pPr/>
            <a:r>
              <a:rPr lang="en-US" sz="1875" b="0">
                <a:solidFill>
                  <a:srgbClr val="173F3A"/>
                </a:solidFill>
                <a:latin typeface="Arial"/>
              </a:rPr>
              <a:t>an easy way to request support.</a:t>
            </a:r>
            <a:endParaRPr lang="en-US"/>
          </a:p>
        </p:txBody>
      </p:sp>
      <p:sp>
        <p:nvSpPr>
          <p:cNvPr id="10" name="Text 10"/>
          <p:cNvSpPr txBox="1"/>
          <p:nvPr/>
        </p:nvSpPr>
        <p:spPr>
          <a:xfrm>
            <a:off x="685800" y="5657850"/>
            <a:ext cx="10668000" cy="400050"/>
          </a:xfrm>
          <a:prstGeom prst="rect">
            <a:avLst/>
          </a:prstGeom>
          <a:noFill/>
        </p:spPr>
        <p:txBody>
          <a:bodyPr wrap="square" lIns="0" rIns="0" tIns="0" bIns="0"/>
          <a:lstStyle/>
          <a:p>
            <a:pPr/>
            <a:r>
              <a:rPr lang="en-US" sz="1650" b="0">
                <a:solidFill>
                  <a:srgbClr val="566C66"/>
                </a:solidFill>
                <a:latin typeface="Arial"/>
              </a:rPr>
              <a:t>Primary user / intended payer: adult child     End user: parent aged 60+</a:t>
            </a:r>
            <a:endParaRPr lang="en-US"/>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Tour matching with reasons</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03</a:t>
            </a:r>
            <a:endParaRPr lang="en-US"/>
          </a:p>
        </p:txBody>
      </p:sp>
      <p:sp>
        <p:nvSpPr>
          <p:cNvPr id="5" name="Text 5"/>
          <p:cNvSpPr txBox="1"/>
          <p:nvPr/>
        </p:nvSpPr>
        <p:spPr>
          <a:xfrm>
            <a:off x="666750" y="1619250"/>
            <a:ext cx="5238750" cy="400050"/>
          </a:xfrm>
          <a:prstGeom prst="rect">
            <a:avLst/>
          </a:prstGeom>
          <a:noFill/>
        </p:spPr>
        <p:txBody>
          <a:bodyPr wrap="square" lIns="0" rIns="0" tIns="0" bIns="0"/>
          <a:lstStyle/>
          <a:p>
            <a:pPr/>
            <a:r>
              <a:rPr lang="en-US" sz="2175" b="1">
                <a:solidFill>
                  <a:srgbClr val="176658"/>
                </a:solidFill>
                <a:latin typeface="Arial"/>
              </a:rPr>
              <a:t>AI Senior Tour Matcher</a:t>
            </a:r>
            <a:endParaRPr lang="en-US"/>
          </a:p>
        </p:txBody>
      </p:sp>
      <p:sp>
        <p:nvSpPr>
          <p:cNvPr id="6" name="Text 6"/>
          <p:cNvSpPr txBox="1"/>
          <p:nvPr/>
        </p:nvSpPr>
        <p:spPr>
          <a:xfrm>
            <a:off x="666750" y="2085975"/>
            <a:ext cx="5238750" cy="857250"/>
          </a:xfrm>
          <a:prstGeom prst="rect">
            <a:avLst/>
          </a:prstGeom>
          <a:noFill/>
        </p:spPr>
        <p:txBody>
          <a:bodyPr wrap="square" lIns="0" rIns="0" tIns="0" bIns="0"/>
          <a:lstStyle/>
          <a:p>
            <a:pPr/>
            <a:r>
              <a:rPr lang="en-US" sz="1875" b="0">
                <a:solidFill>
                  <a:srgbClr val="173F3A"/>
                </a:solidFill>
                <a:latin typeface="Arial"/>
              </a:rPr>
              <a:t>Parent preferences compared</a:t>
            </a:r>
            <a:endParaRPr lang="en-US"/>
          </a:p>
          <a:p>
            <a:pPr/>
            <a:r>
              <a:rPr lang="en-US" sz="1875" b="0">
                <a:solidFill>
                  <a:srgbClr val="173F3A"/>
                </a:solidFill>
                <a:latin typeface="Arial"/>
              </a:rPr>
              <a:t>with tour requirements.</a:t>
            </a:r>
            <a:endParaRPr lang="en-US"/>
          </a:p>
        </p:txBody>
      </p:sp>
      <p:sp>
        <p:nvSpPr>
          <p:cNvPr id="7" name="Text 7"/>
          <p:cNvSpPr txBox="1"/>
          <p:nvPr/>
        </p:nvSpPr>
        <p:spPr>
          <a:xfrm>
            <a:off x="666750" y="3048000"/>
            <a:ext cx="5238750" cy="400050"/>
          </a:xfrm>
          <a:prstGeom prst="rect">
            <a:avLst/>
          </a:prstGeom>
          <a:noFill/>
        </p:spPr>
        <p:txBody>
          <a:bodyPr wrap="square" lIns="0" rIns="0" tIns="0" bIns="0"/>
          <a:lstStyle/>
          <a:p>
            <a:pPr/>
            <a:r>
              <a:rPr lang="en-US" sz="2175" b="1">
                <a:solidFill>
                  <a:srgbClr val="176658"/>
                </a:solidFill>
                <a:latin typeface="Arial"/>
              </a:rPr>
              <a:t>AI Travel Advisor</a:t>
            </a:r>
            <a:endParaRPr lang="en-US"/>
          </a:p>
        </p:txBody>
      </p:sp>
      <p:sp>
        <p:nvSpPr>
          <p:cNvPr id="8" name="Text 8"/>
          <p:cNvSpPr txBox="1"/>
          <p:nvPr/>
        </p:nvSpPr>
        <p:spPr>
          <a:xfrm>
            <a:off x="666750" y="3514725"/>
            <a:ext cx="5238750" cy="857250"/>
          </a:xfrm>
          <a:prstGeom prst="rect">
            <a:avLst/>
          </a:prstGeom>
          <a:noFill/>
        </p:spPr>
        <p:txBody>
          <a:bodyPr wrap="square" lIns="0" rIns="0" tIns="0" bIns="0"/>
          <a:lstStyle/>
          <a:p>
            <a:pPr/>
            <a:r>
              <a:rPr lang="en-US" sz="1875" b="0">
                <a:solidFill>
                  <a:srgbClr val="173F3A"/>
                </a:solidFill>
                <a:latin typeface="Arial"/>
              </a:rPr>
              <a:t>Suitability Score with reasons,</a:t>
            </a:r>
            <a:endParaRPr lang="en-US"/>
          </a:p>
          <a:p>
            <a:pPr/>
            <a:r>
              <a:rPr lang="en-US" sz="1875" b="0">
                <a:solidFill>
                  <a:srgbClr val="173F3A"/>
                </a:solidFill>
                <a:latin typeface="Arial"/>
              </a:rPr>
              <a:t>mismatches and unknowns.</a:t>
            </a:r>
            <a:endParaRPr lang="en-US"/>
          </a:p>
        </p:txBody>
      </p:sp>
      <p:sp>
        <p:nvSpPr>
          <p:cNvPr id="9" name="Text 9"/>
          <p:cNvSpPr txBox="1"/>
          <p:nvPr/>
        </p:nvSpPr>
        <p:spPr>
          <a:xfrm>
            <a:off x="666750" y="4476750"/>
            <a:ext cx="5238750" cy="400050"/>
          </a:xfrm>
          <a:prstGeom prst="rect">
            <a:avLst/>
          </a:prstGeom>
          <a:noFill/>
        </p:spPr>
        <p:txBody>
          <a:bodyPr wrap="square" lIns="0" rIns="0" tIns="0" bIns="0"/>
          <a:lstStyle/>
          <a:p>
            <a:pPr/>
            <a:r>
              <a:rPr lang="en-US" sz="2175" b="1">
                <a:solidFill>
                  <a:srgbClr val="176658"/>
                </a:solidFill>
                <a:latin typeface="Arial"/>
              </a:rPr>
              <a:t>Tour Trust Profile</a:t>
            </a:r>
            <a:endParaRPr lang="en-US"/>
          </a:p>
        </p:txBody>
      </p:sp>
      <p:sp>
        <p:nvSpPr>
          <p:cNvPr id="10" name="Text 10"/>
          <p:cNvSpPr txBox="1"/>
          <p:nvPr/>
        </p:nvSpPr>
        <p:spPr>
          <a:xfrm>
            <a:off x="666750" y="4943475"/>
            <a:ext cx="5238750" cy="857250"/>
          </a:xfrm>
          <a:prstGeom prst="rect">
            <a:avLst/>
          </a:prstGeom>
          <a:noFill/>
        </p:spPr>
        <p:txBody>
          <a:bodyPr wrap="square" lIns="0" rIns="0" tIns="0" bIns="0"/>
          <a:lstStyle/>
          <a:p>
            <a:pPr/>
            <a:r>
              <a:rPr lang="en-US" sz="1875" b="0">
                <a:solidFill>
                  <a:srgbClr val="173F3A"/>
                </a:solidFill>
                <a:latin typeface="Arial"/>
              </a:rPr>
              <a:t>Guide, licence, insurance, hotel</a:t>
            </a:r>
            <a:endParaRPr lang="en-US"/>
          </a:p>
          <a:p>
            <a:pPr/>
            <a:r>
              <a:rPr lang="en-US" sz="1875" b="0">
                <a:solidFill>
                  <a:srgbClr val="173F3A"/>
                </a:solidFill>
                <a:latin typeface="Arial"/>
              </a:rPr>
              <a:t>and transport evidence.</a:t>
            </a:r>
            <a:endParaRPr lang="en-US"/>
          </a:p>
        </p:txBody>
      </p:sp>
      <p:pic>
        <p:nvPicPr>
          <p:cNvPr id="11" name="v2-03-advisor"/>
          <p:cNvPicPr>
            <a:picLocks noChangeAspect="1"/>
          </p:cNvPicPr>
          <p:nvPr/>
        </p:nvPicPr>
        <p:blipFill>
          <a:blip r:embed="rId11"/>
          <a:stretch>
            <a:fillRect/>
          </a:stretch>
        </p:blipFill>
        <p:spPr>
          <a:xfrm>
            <a:off x="6653212" y="1409700"/>
            <a:ext cx="2171700" cy="4714875"/>
          </a:xfrm>
          <a:prstGeom prst="rect">
            <a:avLst/>
          </a:prstGeom>
        </p:spPr>
      </p:pic>
      <p:pic>
        <p:nvPicPr>
          <p:cNvPr id="12" name="v2-04-trust"/>
          <p:cNvPicPr>
            <a:picLocks noChangeAspect="1"/>
          </p:cNvPicPr>
          <p:nvPr/>
        </p:nvPicPr>
        <p:blipFill>
          <a:blip r:embed="rId12"/>
          <a:stretch>
            <a:fillRect/>
          </a:stretch>
        </p:blipFill>
        <p:spPr>
          <a:xfrm>
            <a:off x="9110662" y="1409700"/>
            <a:ext cx="2171700" cy="4714875"/>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Simple actions for older travellers</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04</a:t>
            </a:r>
            <a:endParaRPr lang="en-US"/>
          </a:p>
        </p:txBody>
      </p:sp>
      <p:pic>
        <p:nvPicPr>
          <p:cNvPr id="5" name="v2-07-parent"/>
          <p:cNvPicPr>
            <a:picLocks noChangeAspect="1"/>
          </p:cNvPicPr>
          <p:nvPr/>
        </p:nvPicPr>
        <p:blipFill>
          <a:blip r:embed="rId5"/>
          <a:stretch>
            <a:fillRect/>
          </a:stretch>
        </p:blipFill>
        <p:spPr>
          <a:xfrm>
            <a:off x="1128712" y="1433512"/>
            <a:ext cx="2219325" cy="4800600"/>
          </a:xfrm>
          <a:prstGeom prst="rect">
            <a:avLst/>
          </a:prstGeom>
        </p:spPr>
      </p:pic>
      <p:sp>
        <p:nvSpPr>
          <p:cNvPr id="6" name="Text 6"/>
          <p:cNvSpPr txBox="1"/>
          <p:nvPr/>
        </p:nvSpPr>
        <p:spPr>
          <a:xfrm>
            <a:off x="4524375" y="1733550"/>
            <a:ext cx="6572250" cy="400050"/>
          </a:xfrm>
          <a:prstGeom prst="rect">
            <a:avLst/>
          </a:prstGeom>
          <a:noFill/>
        </p:spPr>
        <p:txBody>
          <a:bodyPr wrap="square" lIns="0" rIns="0" tIns="0" bIns="0"/>
          <a:lstStyle/>
          <a:p>
            <a:pPr/>
            <a:r>
              <a:rPr lang="en-US" sz="2175" b="1">
                <a:solidFill>
                  <a:srgbClr val="176658"/>
                </a:solidFill>
                <a:latin typeface="Arial"/>
              </a:rPr>
              <a:t>One clear next step</a:t>
            </a:r>
            <a:endParaRPr lang="en-US"/>
          </a:p>
        </p:txBody>
      </p:sp>
      <p:sp>
        <p:nvSpPr>
          <p:cNvPr id="7" name="Text 7"/>
          <p:cNvSpPr txBox="1"/>
          <p:nvPr/>
        </p:nvSpPr>
        <p:spPr>
          <a:xfrm>
            <a:off x="4524375" y="2200275"/>
            <a:ext cx="6572250" cy="857250"/>
          </a:xfrm>
          <a:prstGeom prst="rect">
            <a:avLst/>
          </a:prstGeom>
          <a:noFill/>
        </p:spPr>
        <p:txBody>
          <a:bodyPr wrap="square" lIns="0" rIns="0" tIns="0" bIns="0"/>
          <a:lstStyle/>
          <a:p>
            <a:pPr/>
            <a:r>
              <a:rPr lang="en-US" sz="1875" b="0">
                <a:solidFill>
                  <a:srgbClr val="173F3A"/>
                </a:solidFill>
                <a:latin typeface="Arial"/>
              </a:rPr>
              <a:t>Next stop and meeting information</a:t>
            </a:r>
            <a:endParaRPr lang="en-US"/>
          </a:p>
          <a:p>
            <a:pPr/>
            <a:r>
              <a:rPr lang="en-US" sz="1875" b="0">
                <a:solidFill>
                  <a:srgbClr val="173F3A"/>
                </a:solidFill>
                <a:latin typeface="Arial"/>
              </a:rPr>
              <a:t>on the home screen.</a:t>
            </a:r>
            <a:endParaRPr lang="en-US"/>
          </a:p>
        </p:txBody>
      </p:sp>
      <p:sp>
        <p:nvSpPr>
          <p:cNvPr id="8" name="Text 8"/>
          <p:cNvSpPr txBox="1"/>
          <p:nvPr/>
        </p:nvSpPr>
        <p:spPr>
          <a:xfrm>
            <a:off x="4524375" y="3257550"/>
            <a:ext cx="6572250" cy="400050"/>
          </a:xfrm>
          <a:prstGeom prst="rect">
            <a:avLst/>
          </a:prstGeom>
          <a:noFill/>
        </p:spPr>
        <p:txBody>
          <a:bodyPr wrap="square" lIns="0" rIns="0" tIns="0" bIns="0"/>
          <a:lstStyle/>
          <a:p>
            <a:pPr/>
            <a:r>
              <a:rPr lang="en-US" sz="2175" b="1">
                <a:solidFill>
                  <a:srgbClr val="176658"/>
                </a:solidFill>
                <a:latin typeface="Arial"/>
              </a:rPr>
              <a:t>Easy check-in</a:t>
            </a:r>
            <a:endParaRPr lang="en-US"/>
          </a:p>
        </p:txBody>
      </p:sp>
      <p:sp>
        <p:nvSpPr>
          <p:cNvPr id="9" name="Text 9"/>
          <p:cNvSpPr txBox="1"/>
          <p:nvPr/>
        </p:nvSpPr>
        <p:spPr>
          <a:xfrm>
            <a:off x="4524375" y="3724275"/>
            <a:ext cx="6572250" cy="857250"/>
          </a:xfrm>
          <a:prstGeom prst="rect">
            <a:avLst/>
          </a:prstGeom>
          <a:noFill/>
        </p:spPr>
        <p:txBody>
          <a:bodyPr wrap="square" lIns="0" rIns="0" tIns="0" bIns="0"/>
          <a:lstStyle/>
          <a:p>
            <a:pPr/>
            <a:r>
              <a:rPr lang="en-US" sz="1875" b="0">
                <a:solidFill>
                  <a:srgbClr val="173F3A"/>
                </a:solidFill>
                <a:latin typeface="Arial"/>
              </a:rPr>
              <a:t>A prominent “I’m OK” action.</a:t>
            </a:r>
            <a:endParaRPr lang="en-US"/>
          </a:p>
        </p:txBody>
      </p:sp>
      <p:sp>
        <p:nvSpPr>
          <p:cNvPr id="10" name="Text 10"/>
          <p:cNvSpPr txBox="1"/>
          <p:nvPr/>
        </p:nvSpPr>
        <p:spPr>
          <a:xfrm>
            <a:off x="4524375" y="4686300"/>
            <a:ext cx="6572250" cy="400050"/>
          </a:xfrm>
          <a:prstGeom prst="rect">
            <a:avLst/>
          </a:prstGeom>
          <a:noFill/>
        </p:spPr>
        <p:txBody>
          <a:bodyPr wrap="square" lIns="0" rIns="0" tIns="0" bIns="0"/>
          <a:lstStyle/>
          <a:p>
            <a:pPr/>
            <a:r>
              <a:rPr lang="en-US" sz="2175" b="1">
                <a:solidFill>
                  <a:srgbClr val="176658"/>
                </a:solidFill>
                <a:latin typeface="Arial"/>
              </a:rPr>
              <a:t>Help within reach</a:t>
            </a:r>
            <a:endParaRPr lang="en-US"/>
          </a:p>
        </p:txBody>
      </p:sp>
      <p:sp>
        <p:nvSpPr>
          <p:cNvPr id="11" name="Text 11"/>
          <p:cNvSpPr txBox="1"/>
          <p:nvPr/>
        </p:nvSpPr>
        <p:spPr>
          <a:xfrm>
            <a:off x="4524375" y="5153025"/>
            <a:ext cx="6572250" cy="857250"/>
          </a:xfrm>
          <a:prstGeom prst="rect">
            <a:avLst/>
          </a:prstGeom>
          <a:noFill/>
        </p:spPr>
        <p:txBody>
          <a:bodyPr wrap="square" lIns="0" rIns="0" tIns="0" bIns="0"/>
          <a:lstStyle/>
          <a:p>
            <a:pPr/>
            <a:r>
              <a:rPr lang="en-US" sz="1875" b="0">
                <a:solidFill>
                  <a:srgbClr val="173F3A"/>
                </a:solidFill>
                <a:latin typeface="Arial"/>
              </a:rPr>
              <a:t>Call guide or open SOS / Help.</a:t>
            </a:r>
            <a:endParaRPr lang="en-US"/>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Shared context when help is needed</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05</a:t>
            </a:r>
            <a:endParaRPr lang="en-US"/>
          </a:p>
        </p:txBody>
      </p:sp>
      <p:sp>
        <p:nvSpPr>
          <p:cNvPr id="5" name="Text 5"/>
          <p:cNvSpPr txBox="1"/>
          <p:nvPr/>
        </p:nvSpPr>
        <p:spPr>
          <a:xfrm>
            <a:off x="666750" y="1809750"/>
            <a:ext cx="5429250" cy="400050"/>
          </a:xfrm>
          <a:prstGeom prst="rect">
            <a:avLst/>
          </a:prstGeom>
          <a:noFill/>
        </p:spPr>
        <p:txBody>
          <a:bodyPr wrap="square" lIns="0" rIns="0" tIns="0" bIns="0"/>
          <a:lstStyle/>
          <a:p>
            <a:pPr/>
            <a:r>
              <a:rPr lang="en-US" sz="2175" b="1">
                <a:solidFill>
                  <a:srgbClr val="176658"/>
                </a:solidFill>
                <a:latin typeface="Arial"/>
              </a:rPr>
              <a:t>Child Dashboard</a:t>
            </a:r>
            <a:endParaRPr lang="en-US"/>
          </a:p>
        </p:txBody>
      </p:sp>
      <p:sp>
        <p:nvSpPr>
          <p:cNvPr id="6" name="Text 6"/>
          <p:cNvSpPr txBox="1"/>
          <p:nvPr/>
        </p:nvSpPr>
        <p:spPr>
          <a:xfrm>
            <a:off x="666750" y="2276475"/>
            <a:ext cx="5429250" cy="857250"/>
          </a:xfrm>
          <a:prstGeom prst="rect">
            <a:avLst/>
          </a:prstGeom>
          <a:noFill/>
        </p:spPr>
        <p:txBody>
          <a:bodyPr wrap="square" lIns="0" rIns="0" tIns="0" bIns="0"/>
          <a:lstStyle/>
          <a:p>
            <a:pPr/>
            <a:r>
              <a:rPr lang="en-US" sz="1875" b="0">
                <a:solidFill>
                  <a:srgbClr val="173F3A"/>
                </a:solidFill>
                <a:latin typeface="Arial"/>
              </a:rPr>
              <a:t>Itinerary, map preview and latest status</a:t>
            </a:r>
            <a:endParaRPr lang="en-US"/>
          </a:p>
          <a:p>
            <a:pPr/>
            <a:r>
              <a:rPr lang="en-US" sz="1875" b="0">
                <a:solidFill>
                  <a:srgbClr val="173F3A"/>
                </a:solidFill>
                <a:latin typeface="Arial"/>
              </a:rPr>
              <a:t>in the same trip view.</a:t>
            </a:r>
            <a:endParaRPr lang="en-US"/>
          </a:p>
        </p:txBody>
      </p:sp>
      <p:sp>
        <p:nvSpPr>
          <p:cNvPr id="7" name="Text 7"/>
          <p:cNvSpPr txBox="1"/>
          <p:nvPr/>
        </p:nvSpPr>
        <p:spPr>
          <a:xfrm>
            <a:off x="666750" y="3333750"/>
            <a:ext cx="5429250" cy="400050"/>
          </a:xfrm>
          <a:prstGeom prst="rect">
            <a:avLst/>
          </a:prstGeom>
          <a:noFill/>
        </p:spPr>
        <p:txBody>
          <a:bodyPr wrap="square" lIns="0" rIns="0" tIns="0" bIns="0"/>
          <a:lstStyle/>
          <a:p>
            <a:pPr/>
            <a:r>
              <a:rPr lang="en-US" sz="2175" b="1">
                <a:solidFill>
                  <a:srgbClr val="176658"/>
                </a:solidFill>
                <a:latin typeface="Arial"/>
              </a:rPr>
              <a:t>Smart Safety Alerts</a:t>
            </a:r>
            <a:endParaRPr lang="en-US"/>
          </a:p>
        </p:txBody>
      </p:sp>
      <p:sp>
        <p:nvSpPr>
          <p:cNvPr id="8" name="Text 8"/>
          <p:cNvSpPr txBox="1"/>
          <p:nvPr/>
        </p:nvSpPr>
        <p:spPr>
          <a:xfrm>
            <a:off x="666750" y="3800475"/>
            <a:ext cx="5429250" cy="857250"/>
          </a:xfrm>
          <a:prstGeom prst="rect">
            <a:avLst/>
          </a:prstGeom>
          <a:noFill/>
        </p:spPr>
        <p:txBody>
          <a:bodyPr wrap="square" lIns="0" rIns="0" tIns="0" bIns="0"/>
          <a:lstStyle/>
          <a:p>
            <a:pPr/>
            <a:r>
              <a:rPr lang="en-US" sz="1875" b="0">
                <a:solidFill>
                  <a:srgbClr val="173F3A"/>
                </a:solidFill>
                <a:latin typeface="Arial"/>
              </a:rPr>
              <a:t>SOS, overdue check-ins and</a:t>
            </a:r>
            <a:endParaRPr lang="en-US"/>
          </a:p>
          <a:p>
            <a:pPr/>
            <a:r>
              <a:rPr lang="en-US" sz="1875" b="0">
                <a:solidFill>
                  <a:srgbClr val="173F3A"/>
                </a:solidFill>
                <a:latin typeface="Arial"/>
              </a:rPr>
              <a:t>possible route deviations.</a:t>
            </a:r>
            <a:endParaRPr lang="en-US"/>
          </a:p>
        </p:txBody>
      </p:sp>
      <p:sp>
        <p:nvSpPr>
          <p:cNvPr id="9" name="Text 9"/>
          <p:cNvSpPr txBox="1"/>
          <p:nvPr/>
        </p:nvSpPr>
        <p:spPr>
          <a:xfrm>
            <a:off x="666750" y="4953000"/>
            <a:ext cx="5429250" cy="857250"/>
          </a:xfrm>
          <a:prstGeom prst="rect">
            <a:avLst/>
          </a:prstGeom>
          <a:noFill/>
        </p:spPr>
        <p:txBody>
          <a:bodyPr wrap="square" lIns="0" rIns="0" tIns="0" bIns="0"/>
          <a:lstStyle/>
          <a:p>
            <a:pPr/>
            <a:r>
              <a:rPr lang="en-US" sz="2100" b="1">
                <a:solidFill>
                  <a:srgbClr val="173F3A"/>
                </a:solidFill>
                <a:latin typeface="Arial"/>
              </a:rPr>
              <a:t>Guide assists locally.</a:t>
            </a:r>
            <a:endParaRPr lang="en-US"/>
          </a:p>
          <a:p>
            <a:pPr/>
            <a:r>
              <a:rPr lang="en-US" sz="2100" b="1">
                <a:solidFill>
                  <a:srgbClr val="173F3A"/>
                </a:solidFill>
                <a:latin typeface="Arial"/>
              </a:rPr>
              <a:t>Child follows the response remotely.</a:t>
            </a:r>
            <a:endParaRPr lang="en-US"/>
          </a:p>
        </p:txBody>
      </p:sp>
      <p:pic>
        <p:nvPicPr>
          <p:cNvPr id="10" name="v2-05-dashboard"/>
          <p:cNvPicPr>
            <a:picLocks noChangeAspect="1"/>
          </p:cNvPicPr>
          <p:nvPr/>
        </p:nvPicPr>
        <p:blipFill>
          <a:blip r:embed="rId10"/>
          <a:stretch>
            <a:fillRect/>
          </a:stretch>
        </p:blipFill>
        <p:spPr>
          <a:xfrm>
            <a:off x="6691312" y="1409700"/>
            <a:ext cx="2171700" cy="4714875"/>
          </a:xfrm>
          <a:prstGeom prst="rect">
            <a:avLst/>
          </a:prstGeom>
        </p:spPr>
      </p:pic>
      <p:pic>
        <p:nvPicPr>
          <p:cNvPr id="11" name="v2-06-alerts"/>
          <p:cNvPicPr>
            <a:picLocks noChangeAspect="1"/>
          </p:cNvPicPr>
          <p:nvPr/>
        </p:nvPicPr>
        <p:blipFill>
          <a:blip r:embed="rId11"/>
          <a:stretch>
            <a:fillRect/>
          </a:stretch>
        </p:blipFill>
        <p:spPr>
          <a:xfrm>
            <a:off x="9139237" y="1409700"/>
            <a:ext cx="2171700" cy="4714875"/>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Our proposed difference</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06</a:t>
            </a:r>
            <a:endParaRPr lang="en-US"/>
          </a:p>
        </p:txBody>
      </p:sp>
      <p:sp>
        <p:nvSpPr>
          <p:cNvPr id="5" name="Text 5"/>
          <p:cNvSpPr txBox="1"/>
          <p:nvPr/>
        </p:nvSpPr>
        <p:spPr>
          <a:xfrm>
            <a:off x="714375" y="1524000"/>
            <a:ext cx="7524750" cy="400050"/>
          </a:xfrm>
          <a:prstGeom prst="rect">
            <a:avLst/>
          </a:prstGeom>
          <a:noFill/>
        </p:spPr>
        <p:txBody>
          <a:bodyPr wrap="square" lIns="0" rIns="0" tIns="0" bIns="0"/>
          <a:lstStyle/>
          <a:p>
            <a:pPr/>
            <a:r>
              <a:rPr lang="en-US" sz="2175" b="1">
                <a:solidFill>
                  <a:srgbClr val="176658"/>
                </a:solidFill>
                <a:latin typeface="Arial"/>
              </a:rPr>
              <a:t>TourRadar</a:t>
            </a:r>
            <a:endParaRPr lang="en-US"/>
          </a:p>
        </p:txBody>
      </p:sp>
      <p:sp>
        <p:nvSpPr>
          <p:cNvPr id="6" name="Text 6"/>
          <p:cNvSpPr txBox="1"/>
          <p:nvPr/>
        </p:nvSpPr>
        <p:spPr>
          <a:xfrm>
            <a:off x="714375" y="1990725"/>
            <a:ext cx="7524750" cy="857250"/>
          </a:xfrm>
          <a:prstGeom prst="rect">
            <a:avLst/>
          </a:prstGeom>
          <a:noFill/>
        </p:spPr>
        <p:txBody>
          <a:bodyPr wrap="square" lIns="0" rIns="0" tIns="0" bIns="0"/>
          <a:lstStyle/>
          <a:p>
            <a:pPr/>
            <a:r>
              <a:rPr lang="en-US" sz="1875" b="0">
                <a:solidFill>
                  <a:srgbClr val="173F3A"/>
                </a:solidFill>
                <a:latin typeface="Arial"/>
              </a:rPr>
              <a:t>Tour discovery and physical ratings</a:t>
            </a:r>
            <a:endParaRPr lang="en-US"/>
          </a:p>
        </p:txBody>
      </p:sp>
      <p:pic>
        <p:nvPicPr>
          <p:cNvPr id="7" name="logo:tourradar.png"/>
          <p:cNvPicPr>
            <a:picLocks noChangeAspect="1"/>
          </p:cNvPicPr>
          <p:nvPr/>
        </p:nvPicPr>
        <p:blipFill>
          <a:blip r:embed="rId7"/>
          <a:stretch>
            <a:fillRect/>
          </a:stretch>
        </p:blipFill>
        <p:spPr>
          <a:xfrm>
            <a:off x="9144000" y="1557337"/>
            <a:ext cx="2095500" cy="371475"/>
          </a:xfrm>
          <a:prstGeom prst="rect">
            <a:avLst/>
          </a:prstGeom>
        </p:spPr>
      </p:pic>
      <p:sp>
        <p:nvSpPr>
          <p:cNvPr id="8" name="Text 8"/>
          <p:cNvSpPr txBox="1"/>
          <p:nvPr/>
        </p:nvSpPr>
        <p:spPr>
          <a:xfrm>
            <a:off x="714375" y="2686050"/>
            <a:ext cx="7524750" cy="400050"/>
          </a:xfrm>
          <a:prstGeom prst="rect">
            <a:avLst/>
          </a:prstGeom>
          <a:noFill/>
        </p:spPr>
        <p:txBody>
          <a:bodyPr wrap="square" lIns="0" rIns="0" tIns="0" bIns="0"/>
          <a:lstStyle/>
          <a:p>
            <a:pPr/>
            <a:r>
              <a:rPr lang="en-US" sz="2175" b="1">
                <a:solidFill>
                  <a:srgbClr val="176658"/>
                </a:solidFill>
                <a:latin typeface="Arial"/>
              </a:rPr>
              <a:t>TripIt</a:t>
            </a:r>
            <a:endParaRPr lang="en-US"/>
          </a:p>
        </p:txBody>
      </p:sp>
      <p:sp>
        <p:nvSpPr>
          <p:cNvPr id="9" name="Text 9"/>
          <p:cNvSpPr txBox="1"/>
          <p:nvPr/>
        </p:nvSpPr>
        <p:spPr>
          <a:xfrm>
            <a:off x="714375" y="3152775"/>
            <a:ext cx="7524750" cy="857250"/>
          </a:xfrm>
          <a:prstGeom prst="rect">
            <a:avLst/>
          </a:prstGeom>
          <a:noFill/>
        </p:spPr>
        <p:txBody>
          <a:bodyPr wrap="square" lIns="0" rIns="0" tIns="0" bIns="0"/>
          <a:lstStyle/>
          <a:p>
            <a:pPr/>
            <a:r>
              <a:rPr lang="en-US" sz="1875" b="0">
                <a:solidFill>
                  <a:srgbClr val="173F3A"/>
                </a:solidFill>
                <a:latin typeface="Arial"/>
              </a:rPr>
              <a:t>Travel plans and itinerary sharing</a:t>
            </a:r>
            <a:endParaRPr lang="en-US"/>
          </a:p>
        </p:txBody>
      </p:sp>
      <p:pic>
        <p:nvPicPr>
          <p:cNvPr id="10" name="logo:tripit-clean.png"/>
          <p:cNvPicPr>
            <a:picLocks noChangeAspect="1"/>
          </p:cNvPicPr>
          <p:nvPr/>
        </p:nvPicPr>
        <p:blipFill>
          <a:blip r:embed="rId10"/>
          <a:stretch>
            <a:fillRect/>
          </a:stretch>
        </p:blipFill>
        <p:spPr>
          <a:xfrm>
            <a:off x="9496425" y="2552700"/>
            <a:ext cx="1343025" cy="723900"/>
          </a:xfrm>
          <a:prstGeom prst="rect">
            <a:avLst/>
          </a:prstGeom>
        </p:spPr>
      </p:pic>
      <p:sp>
        <p:nvSpPr>
          <p:cNvPr id="11" name="Text 11"/>
          <p:cNvSpPr txBox="1"/>
          <p:nvPr/>
        </p:nvSpPr>
        <p:spPr>
          <a:xfrm>
            <a:off x="714375" y="3848100"/>
            <a:ext cx="7524750" cy="400050"/>
          </a:xfrm>
          <a:prstGeom prst="rect">
            <a:avLst/>
          </a:prstGeom>
          <a:noFill/>
        </p:spPr>
        <p:txBody>
          <a:bodyPr wrap="square" lIns="0" rIns="0" tIns="0" bIns="0"/>
          <a:lstStyle/>
          <a:p>
            <a:pPr/>
            <a:r>
              <a:rPr lang="en-US" sz="2175" b="1">
                <a:solidFill>
                  <a:srgbClr val="176658"/>
                </a:solidFill>
                <a:latin typeface="Arial"/>
              </a:rPr>
              <a:t>Life360</a:t>
            </a:r>
            <a:endParaRPr lang="en-US"/>
          </a:p>
        </p:txBody>
      </p:sp>
      <p:sp>
        <p:nvSpPr>
          <p:cNvPr id="12" name="Text 12"/>
          <p:cNvSpPr txBox="1"/>
          <p:nvPr/>
        </p:nvSpPr>
        <p:spPr>
          <a:xfrm>
            <a:off x="714375" y="4314825"/>
            <a:ext cx="7524750" cy="857250"/>
          </a:xfrm>
          <a:prstGeom prst="rect">
            <a:avLst/>
          </a:prstGeom>
          <a:noFill/>
        </p:spPr>
        <p:txBody>
          <a:bodyPr wrap="square" lIns="0" rIns="0" tIns="0" bIns="0"/>
          <a:lstStyle/>
          <a:p>
            <a:pPr/>
            <a:r>
              <a:rPr lang="en-US" sz="1875" b="0">
                <a:solidFill>
                  <a:srgbClr val="173F3A"/>
                </a:solidFill>
                <a:latin typeface="Arial"/>
              </a:rPr>
              <a:t>Family location sharing and SOS</a:t>
            </a:r>
            <a:endParaRPr lang="en-US"/>
          </a:p>
        </p:txBody>
      </p:sp>
      <p:pic>
        <p:nvPicPr>
          <p:cNvPr id="13" name="logo:life360.png"/>
          <p:cNvPicPr>
            <a:picLocks noChangeAspect="1"/>
          </p:cNvPicPr>
          <p:nvPr/>
        </p:nvPicPr>
        <p:blipFill>
          <a:blip r:embed="rId13"/>
          <a:stretch>
            <a:fillRect/>
          </a:stretch>
        </p:blipFill>
        <p:spPr>
          <a:xfrm>
            <a:off x="9229725" y="3819525"/>
            <a:ext cx="1876425" cy="571500"/>
          </a:xfrm>
          <a:prstGeom prst="rect">
            <a:avLst/>
          </a:prstGeom>
        </p:spPr>
      </p:pic>
      <p:sp>
        <p:nvSpPr>
          <p:cNvPr id="14" name="Text 14"/>
          <p:cNvSpPr txBox="1"/>
          <p:nvPr/>
        </p:nvSpPr>
        <p:spPr>
          <a:xfrm>
            <a:off x="714375" y="5314950"/>
            <a:ext cx="10477500" cy="876300"/>
          </a:xfrm>
          <a:prstGeom prst="rect">
            <a:avLst/>
          </a:prstGeom>
          <a:noFill/>
        </p:spPr>
        <p:txBody>
          <a:bodyPr wrap="square" lIns="0" rIns="0" tIns="0" bIns="0"/>
          <a:lstStyle/>
          <a:p>
            <a:pPr/>
            <a:r>
              <a:rPr lang="en-US" sz="2550" b="1">
                <a:solidFill>
                  <a:srgbClr val="173F3A"/>
                </a:solidFill>
                <a:latin typeface="Arial"/>
              </a:rPr>
              <a:t>Our focus: parent-specific tour selection</a:t>
            </a:r>
            <a:endParaRPr lang="en-US"/>
          </a:p>
          <a:p>
            <a:pPr/>
            <a:r>
              <a:rPr lang="en-US" sz="2550" b="1">
                <a:solidFill>
                  <a:srgbClr val="173F3A"/>
                </a:solidFill>
                <a:latin typeface="Arial"/>
              </a:rPr>
              <a:t>connected to family and guide support</a:t>
            </a:r>
            <a:endParaRPr lang="en-US"/>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A focused implementation stack</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07</a:t>
            </a:r>
            <a:endParaRPr lang="en-US"/>
          </a:p>
        </p:txBody>
      </p:sp>
      <p:sp>
        <p:nvSpPr>
          <p:cNvPr id="5" name="Text 5"/>
          <p:cNvSpPr txBox="1"/>
          <p:nvPr/>
        </p:nvSpPr>
        <p:spPr>
          <a:xfrm>
            <a:off x="666750" y="1571625"/>
            <a:ext cx="4857750" cy="400050"/>
          </a:xfrm>
          <a:prstGeom prst="rect">
            <a:avLst/>
          </a:prstGeom>
          <a:noFill/>
        </p:spPr>
        <p:txBody>
          <a:bodyPr wrap="square" lIns="0" rIns="0" tIns="0" bIns="0"/>
          <a:lstStyle/>
          <a:p>
            <a:pPr/>
            <a:r>
              <a:rPr lang="en-US" sz="2175" b="1">
                <a:solidFill>
                  <a:srgbClr val="176658"/>
                </a:solidFill>
                <a:latin typeface="Arial"/>
              </a:rPr>
              <a:t>Flutter</a:t>
            </a:r>
            <a:endParaRPr lang="en-US"/>
          </a:p>
        </p:txBody>
      </p:sp>
      <p:sp>
        <p:nvSpPr>
          <p:cNvPr id="6" name="Text 6"/>
          <p:cNvSpPr txBox="1"/>
          <p:nvPr/>
        </p:nvSpPr>
        <p:spPr>
          <a:xfrm>
            <a:off x="666750" y="2038350"/>
            <a:ext cx="4857750" cy="857250"/>
          </a:xfrm>
          <a:prstGeom prst="rect">
            <a:avLst/>
          </a:prstGeom>
          <a:noFill/>
        </p:spPr>
        <p:txBody>
          <a:bodyPr wrap="square" lIns="0" rIns="0" tIns="0" bIns="0"/>
          <a:lstStyle/>
          <a:p>
            <a:pPr/>
            <a:r>
              <a:rPr lang="en-US" sz="1875" b="0">
                <a:solidFill>
                  <a:srgbClr val="173F3A"/>
                </a:solidFill>
                <a:latin typeface="Arial"/>
              </a:rPr>
              <a:t>Parent, child and guide interfaces</a:t>
            </a:r>
            <a:endParaRPr lang="en-US"/>
          </a:p>
        </p:txBody>
      </p:sp>
      <p:sp>
        <p:nvSpPr>
          <p:cNvPr id="7" name="Text 7"/>
          <p:cNvSpPr txBox="1"/>
          <p:nvPr/>
        </p:nvSpPr>
        <p:spPr>
          <a:xfrm>
            <a:off x="6572250" y="1571625"/>
            <a:ext cx="4857750" cy="400050"/>
          </a:xfrm>
          <a:prstGeom prst="rect">
            <a:avLst/>
          </a:prstGeom>
          <a:noFill/>
        </p:spPr>
        <p:txBody>
          <a:bodyPr wrap="square" lIns="0" rIns="0" tIns="0" bIns="0"/>
          <a:lstStyle/>
          <a:p>
            <a:pPr/>
            <a:r>
              <a:rPr lang="en-US" sz="2175" b="1">
                <a:solidFill>
                  <a:srgbClr val="176658"/>
                </a:solidFill>
                <a:latin typeface="Arial"/>
              </a:rPr>
              <a:t>FastAPI + Supabase</a:t>
            </a:r>
            <a:endParaRPr lang="en-US"/>
          </a:p>
        </p:txBody>
      </p:sp>
      <p:sp>
        <p:nvSpPr>
          <p:cNvPr id="8" name="Text 8"/>
          <p:cNvSpPr txBox="1"/>
          <p:nvPr/>
        </p:nvSpPr>
        <p:spPr>
          <a:xfrm>
            <a:off x="6572250" y="2038350"/>
            <a:ext cx="4857750" cy="857250"/>
          </a:xfrm>
          <a:prstGeom prst="rect">
            <a:avLst/>
          </a:prstGeom>
          <a:noFill/>
        </p:spPr>
        <p:txBody>
          <a:bodyPr wrap="square" lIns="0" rIns="0" tIns="0" bIns="0"/>
          <a:lstStyle/>
          <a:p>
            <a:pPr/>
            <a:r>
              <a:rPr lang="en-US" sz="1875" b="0">
                <a:solidFill>
                  <a:srgbClr val="173F3A"/>
                </a:solidFill>
                <a:latin typeface="Arial"/>
              </a:rPr>
              <a:t>APIs, trip data and access controls</a:t>
            </a:r>
            <a:endParaRPr lang="en-US"/>
          </a:p>
        </p:txBody>
      </p:sp>
      <p:sp>
        <p:nvSpPr>
          <p:cNvPr id="9" name="Text 9"/>
          <p:cNvSpPr txBox="1"/>
          <p:nvPr/>
        </p:nvSpPr>
        <p:spPr>
          <a:xfrm>
            <a:off x="666750" y="3190875"/>
            <a:ext cx="4857750" cy="400050"/>
          </a:xfrm>
          <a:prstGeom prst="rect">
            <a:avLst/>
          </a:prstGeom>
          <a:noFill/>
        </p:spPr>
        <p:txBody>
          <a:bodyPr wrap="square" lIns="0" rIns="0" tIns="0" bIns="0"/>
          <a:lstStyle/>
          <a:p>
            <a:pPr/>
            <a:r>
              <a:rPr lang="en-US" sz="2175" b="1">
                <a:solidFill>
                  <a:srgbClr val="176658"/>
                </a:solidFill>
                <a:latin typeface="Arial"/>
              </a:rPr>
              <a:t>LangChain + NVIDIA NIM</a:t>
            </a:r>
            <a:endParaRPr lang="en-US"/>
          </a:p>
        </p:txBody>
      </p:sp>
      <p:sp>
        <p:nvSpPr>
          <p:cNvPr id="10" name="Text 10"/>
          <p:cNvSpPr txBox="1"/>
          <p:nvPr/>
        </p:nvSpPr>
        <p:spPr>
          <a:xfrm>
            <a:off x="666750" y="3657600"/>
            <a:ext cx="4857750" cy="857250"/>
          </a:xfrm>
          <a:prstGeom prst="rect">
            <a:avLst/>
          </a:prstGeom>
          <a:noFill/>
        </p:spPr>
        <p:txBody>
          <a:bodyPr wrap="square" lIns="0" rIns="0" tIns="0" bIns="0"/>
          <a:lstStyle/>
          <a:p>
            <a:pPr/>
            <a:r>
              <a:rPr lang="en-US" sz="1875" b="0">
                <a:solidFill>
                  <a:srgbClr val="173F3A"/>
                </a:solidFill>
                <a:latin typeface="Arial"/>
              </a:rPr>
              <a:t>Evidence-based match explanations</a:t>
            </a:r>
            <a:endParaRPr lang="en-US"/>
          </a:p>
        </p:txBody>
      </p:sp>
      <p:sp>
        <p:nvSpPr>
          <p:cNvPr id="11" name="Text 11"/>
          <p:cNvSpPr txBox="1"/>
          <p:nvPr/>
        </p:nvSpPr>
        <p:spPr>
          <a:xfrm>
            <a:off x="6572250" y="3190875"/>
            <a:ext cx="4857750" cy="400050"/>
          </a:xfrm>
          <a:prstGeom prst="rect">
            <a:avLst/>
          </a:prstGeom>
          <a:noFill/>
        </p:spPr>
        <p:txBody>
          <a:bodyPr wrap="square" lIns="0" rIns="0" tIns="0" bIns="0"/>
          <a:lstStyle/>
          <a:p>
            <a:pPr/>
            <a:r>
              <a:rPr lang="en-US" sz="2175" b="1">
                <a:solidFill>
                  <a:srgbClr val="176658"/>
                </a:solidFill>
                <a:latin typeface="Arial"/>
              </a:rPr>
              <a:t>Geoapify Routing API</a:t>
            </a:r>
            <a:endParaRPr lang="en-US"/>
          </a:p>
        </p:txBody>
      </p:sp>
      <p:sp>
        <p:nvSpPr>
          <p:cNvPr id="12" name="Text 12"/>
          <p:cNvSpPr txBox="1"/>
          <p:nvPr/>
        </p:nvSpPr>
        <p:spPr>
          <a:xfrm>
            <a:off x="6572250" y="3657600"/>
            <a:ext cx="4857750" cy="857250"/>
          </a:xfrm>
          <a:prstGeom prst="rect">
            <a:avLst/>
          </a:prstGeom>
          <a:noFill/>
        </p:spPr>
        <p:txBody>
          <a:bodyPr wrap="square" lIns="0" rIns="0" tIns="0" bIns="0"/>
          <a:lstStyle/>
          <a:p>
            <a:pPr/>
            <a:r>
              <a:rPr lang="en-US" sz="1875" b="0">
                <a:solidFill>
                  <a:srgbClr val="173F3A"/>
                </a:solidFill>
                <a:latin typeface="Arial"/>
              </a:rPr>
              <a:t>Proposed route distance and duration</a:t>
            </a:r>
            <a:endParaRPr lang="en-US"/>
          </a:p>
        </p:txBody>
      </p:sp>
      <p:sp>
        <p:nvSpPr>
          <p:cNvPr id="13" name="Text 13"/>
          <p:cNvSpPr txBox="1"/>
          <p:nvPr/>
        </p:nvSpPr>
        <p:spPr>
          <a:xfrm>
            <a:off x="666750" y="5095875"/>
            <a:ext cx="10763250" cy="666750"/>
          </a:xfrm>
          <a:prstGeom prst="rect">
            <a:avLst/>
          </a:prstGeom>
          <a:noFill/>
        </p:spPr>
        <p:txBody>
          <a:bodyPr wrap="square" lIns="0" rIns="0" tIns="0" bIns="0"/>
          <a:lstStyle/>
          <a:p>
            <a:pPr/>
            <a:r>
              <a:rPr lang="en-US" sz="2100" b="1">
                <a:solidFill>
                  <a:srgbClr val="176658"/>
                </a:solidFill>
                <a:latin typeface="Arial"/>
              </a:rPr>
              <a:t>FCM + persistent worker for notifications and scheduled checks</a:t>
            </a:r>
            <a:endParaRPr lang="en-US"/>
          </a:p>
        </p:txBody>
      </p:sp>
      <p:sp>
        <p:nvSpPr>
          <p:cNvPr id="14" name="Text 14"/>
          <p:cNvSpPr txBox="1"/>
          <p:nvPr/>
        </p:nvSpPr>
        <p:spPr>
          <a:xfrm>
            <a:off x="666750" y="5876925"/>
            <a:ext cx="10668000" cy="381000"/>
          </a:xfrm>
          <a:prstGeom prst="rect">
            <a:avLst/>
          </a:prstGeom>
          <a:noFill/>
        </p:spPr>
        <p:txBody>
          <a:bodyPr wrap="square" lIns="0" rIns="0" tIns="0" bIns="0"/>
          <a:lstStyle/>
          <a:p>
            <a:pPr/>
            <a:r>
              <a:rPr lang="en-US" sz="1650" b="0">
                <a:solidFill>
                  <a:srgbClr val="566C66"/>
                </a:solidFill>
                <a:latin typeface="Arial"/>
              </a:rPr>
              <a:t>Planned stack. Current prototype uses HTML, CSS and JavaScript.</a:t>
            </a:r>
            <a:endParaRPr lang="en-US"/>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73F3A"/>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FFFFFF"/>
                </a:solidFill>
                <a:latin typeface="Arial"/>
              </a:rPr>
              <a:t>The next milestone</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BDCCC6"/>
                </a:solidFill>
                <a:latin typeface="Arial"/>
              </a:rPr>
              <a:t>08</a:t>
            </a:r>
            <a:endParaRPr lang="en-US"/>
          </a:p>
        </p:txBody>
      </p:sp>
      <p:sp>
        <p:nvSpPr>
          <p:cNvPr id="5" name="Text 5"/>
          <p:cNvSpPr txBox="1"/>
          <p:nvPr/>
        </p:nvSpPr>
        <p:spPr>
          <a:xfrm>
            <a:off x="714375" y="1685925"/>
            <a:ext cx="10572750" cy="1381125"/>
          </a:xfrm>
          <a:prstGeom prst="rect">
            <a:avLst/>
          </a:prstGeom>
          <a:noFill/>
        </p:spPr>
        <p:txBody>
          <a:bodyPr wrap="square" lIns="0" rIns="0" tIns="0" bIns="0"/>
          <a:lstStyle/>
          <a:p>
            <a:pPr/>
            <a:r>
              <a:rPr lang="en-US" sz="3975" b="1">
                <a:solidFill>
                  <a:srgbClr val="FFFFFF"/>
                </a:solidFill>
                <a:latin typeface="Arial"/>
              </a:rPr>
              <a:t>One profile. One suitable tour.</a:t>
            </a:r>
            <a:endParaRPr lang="en-US"/>
          </a:p>
          <a:p>
            <a:pPr/>
            <a:r>
              <a:rPr lang="en-US" sz="3975" b="1">
                <a:solidFill>
                  <a:srgbClr val="FFFFFF"/>
                </a:solidFill>
                <a:latin typeface="Arial"/>
              </a:rPr>
              <a:t>One shared trip.</a:t>
            </a:r>
            <a:endParaRPr lang="en-US"/>
          </a:p>
        </p:txBody>
      </p:sp>
      <p:sp>
        <p:nvSpPr>
          <p:cNvPr id="6" name="Text 6"/>
          <p:cNvSpPr txBox="1"/>
          <p:nvPr/>
        </p:nvSpPr>
        <p:spPr>
          <a:xfrm>
            <a:off x="742950" y="3724275"/>
            <a:ext cx="10572750" cy="952500"/>
          </a:xfrm>
          <a:prstGeom prst="rect">
            <a:avLst/>
          </a:prstGeom>
          <a:noFill/>
        </p:spPr>
        <p:txBody>
          <a:bodyPr wrap="square" lIns="0" rIns="0" tIns="0" bIns="0"/>
          <a:lstStyle/>
          <a:p>
            <a:pPr/>
            <a:r>
              <a:rPr lang="en-US" sz="2325" b="0">
                <a:solidFill>
                  <a:srgbClr val="D4E4DD"/>
                </a:solidFill>
                <a:latin typeface="Arial"/>
              </a:rPr>
              <a:t>Next: working check-ins across two devices</a:t>
            </a:r>
            <a:endParaRPr lang="en-US"/>
          </a:p>
          <a:p>
            <a:pPr/>
            <a:r>
              <a:rPr lang="en-US" sz="2325" b="0">
                <a:solidFill>
                  <a:srgbClr val="D4E4DD"/>
                </a:solidFill>
                <a:latin typeface="Arial"/>
              </a:rPr>
              <a:t>Then: guide response and older-user testing</a:t>
            </a:r>
            <a:endParaRPr lang="en-US"/>
          </a:p>
        </p:txBody>
      </p:sp>
      <p:sp>
        <p:nvSpPr>
          <p:cNvPr id="7" name="Text 7"/>
          <p:cNvSpPr txBox="1"/>
          <p:nvPr/>
        </p:nvSpPr>
        <p:spPr>
          <a:xfrm>
            <a:off x="742950" y="5495925"/>
            <a:ext cx="10477500" cy="476250"/>
          </a:xfrm>
          <a:prstGeom prst="rect">
            <a:avLst/>
          </a:prstGeom>
          <a:noFill/>
        </p:spPr>
        <p:txBody>
          <a:bodyPr wrap="square" lIns="0" rIns="0" tIns="0" bIns="0"/>
          <a:lstStyle/>
          <a:p>
            <a:pPr/>
            <a:r>
              <a:rPr lang="en-US" sz="1875" b="0">
                <a:solidFill>
                  <a:srgbClr val="BDCCC6"/>
                </a:solidFill>
                <a:latin typeface="Arial"/>
              </a:rPr>
              <a:t>Current status: UI prototype with sample data</a:t>
            </a:r>
            <a:endParaRPr lang="en-US"/>
          </a:p>
        </p:txBody>
      </p:sp>
    </p:spTree>
  </p:cSld>
  <p:clrMapOvr>
    <a:masterClrMapping/>
  </p:clrMapOvr>
</p:sld>
</file>